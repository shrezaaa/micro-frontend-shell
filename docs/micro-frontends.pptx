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ccf6ab4-37d8-8dae-0880-d7bdf1df85b3}">
          <p14:sldIdLst>
            <p14:sldId id="256"/>
            <p14:sldId id="257"/>
            <p14:sldId id="258"/>
            <p14:sldId id="259"/>
          </p14:sldIdLst>
        </p14:section>
        <p14:section name="When" id="{cf474d8b-e7fa-e78d-7db1-c0c8aff9a43f}">
          <p14:sldIdLst>
            <p14:sldId id="260"/>
            <p14:sldId id="261"/>
            <p14:sldId id="262"/>
          </p14:sldIdLst>
        </p14:section>
        <p14:section name="How" id="{061122ba-a7ab-447e-8efd-7da403545b7e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Example" id="{5177d937-bf5c-ae3b-387d-8bf82cd31fe4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ose" id="{1e298a29-2b58-d244-7a7b-8d73102cb64f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the talk: what micro frontends are, when they are worth it, the main ways to build them, and a live tour of our example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micro frontends solve is organisational before it is technical: several teams sharing one deployable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Microservices for the browser. If you must redeploy everything to change one piece, it is a modular monolith, not micro frontends.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 of these is missing you pay the cost without the benefit. Ownership and independent deploy are the non-negotiable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the honest answer is "less often than conference talks suggest".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start with a well-structured modular monolith (Nx libraries with boundaries). Split out when release coupling between teams actually hurts.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showed up in our example repo. The bridge library exists because of "Routing &amp; state".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families of approaches. They differ in where composition happens: at build time, on the server or edge, or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Mixing is allowed: e.g. federation for first-party Angular apps plus an iframe for a vendor tool. AWS and Bit are not alternatives to runtime composition; they solve hosting and component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 is the feature and the problem. Everything iframes do not share for free (URL, theme, auth, events) has to go through a message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default choice when many teams use the same framework. Version drift of shared singletons is the main operational risk; pin and govern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AWS solves the hosting and routing layer. In our repo that layer is Traefik plus the Express gateway. You would still use iframes or federation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 complements runtime composition. A realistic combo: micro apps composed at runtime, all using a design system shared through Bit or npm.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row wins everywhere. Pick by your top constraint: isolation, performance, team autonomy or SEO.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questions top to bottom and stop at the first yes. Most teams end up with federation, plus iframes for legacy or vendor pieces.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repo or the running app here if you are demoing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production the Traefik + Gateway layer is your CDN or ingress, e.g. CloudFront behaviors per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Framework-agnostic TypeScript with thin adapters: an Angular service, a React hook and a Vue router hook. Envelope: { protocol, version, app, type, payload 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Iframes share the tab's joint session history. If the shell also pushes when mirroring, Back needs two presses. That is why the shell uses replaceUrl.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Iframe reloads, deep links and the empty container were in the original code; the silent signal bit us during the refactor; double history and open postMessage were designed around. All are handled now, and the bridge rules are covered by tests in libs/mfe-bridge. Federation has its own list (shared versions, CSS leaks).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Bonus: open an app directly on its dev port (e.g. :5003). It still works standalone and shows a "(standalone)"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time for questions. The README in the repo has the same material in more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B0"/>
                </a:solidFill>
              </a:rPr>
              <a:t>Micro Frontends · micro-frontend-shell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Micro Frontends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Splitting the UI the way we split the backend, with a working example</a:t>
            </a:r>
            <a:endParaRPr lang="en-US" sz="2200" dirty="0"/>
          </a:p>
        </p:txBody>
      </p:sp>
      <p:sp>
        <p:nvSpPr>
          <p:cNvPr id="4" name="Angular tile"/>
          <p:cNvSpPr/>
          <p:nvPr/>
        </p:nvSpPr>
        <p:spPr>
          <a:xfrm>
            <a:off x="9052560" y="1280160"/>
            <a:ext cx="118872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Angular</a:t>
            </a:r>
            <a:endParaRPr lang="en-US" sz="1500" dirty="0"/>
          </a:p>
        </p:txBody>
      </p:sp>
      <p:sp>
        <p:nvSpPr>
          <p:cNvPr id="6" name="React tile"/>
          <p:cNvSpPr/>
          <p:nvPr/>
        </p:nvSpPr>
        <p:spPr>
          <a:xfrm>
            <a:off x="10378440" y="1280160"/>
            <a:ext cx="118872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7844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React</a:t>
            </a:r>
            <a:endParaRPr lang="en-US" sz="1500" dirty="0"/>
          </a:p>
        </p:txBody>
      </p:sp>
      <p:sp>
        <p:nvSpPr>
          <p:cNvPr id="8" name="Vue tile"/>
          <p:cNvSpPr/>
          <p:nvPr/>
        </p:nvSpPr>
        <p:spPr>
          <a:xfrm>
            <a:off x="9052560" y="2606040"/>
            <a:ext cx="1188720" cy="1188720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525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Vue</a:t>
            </a:r>
            <a:endParaRPr lang="en-US" sz="1500" dirty="0"/>
          </a:p>
        </p:txBody>
      </p:sp>
      <p:sp>
        <p:nvSpPr>
          <p:cNvPr id="10" name="Shell tile"/>
          <p:cNvSpPr/>
          <p:nvPr/>
        </p:nvSpPr>
        <p:spPr>
          <a:xfrm>
            <a:off x="10378440" y="2606040"/>
            <a:ext cx="118872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37844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Shell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frontend, many teams, one release train</a:t>
            </a:r>
            <a:endParaRPr lang="en-US" sz="3400" dirty="0"/>
          </a:p>
        </p:txBody>
      </p:sp>
      <p:sp>
        <p:nvSpPr>
          <p:cNvPr id="3" name="monolith card"/>
          <p:cNvSpPr/>
          <p:nvPr/>
        </p:nvSpPr>
        <p:spPr>
          <a:xfrm>
            <a:off x="548640" y="1463040"/>
            <a:ext cx="475488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frontend monolith</a:t>
            </a:r>
            <a:endParaRPr lang="en-US" sz="2000" dirty="0"/>
          </a:p>
        </p:txBody>
      </p:sp>
      <p:sp>
        <p:nvSpPr>
          <p:cNvPr id="5" name="Orders team"/>
          <p:cNvSpPr/>
          <p:nvPr/>
        </p:nvSpPr>
        <p:spPr>
          <a:xfrm>
            <a:off x="868680" y="2331720"/>
            <a:ext cx="41148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Orders team</a:t>
            </a:r>
            <a:endParaRPr lang="en-US" sz="1500" dirty="0"/>
          </a:p>
        </p:txBody>
      </p:sp>
      <p:sp>
        <p:nvSpPr>
          <p:cNvPr id="7" name="Billing team"/>
          <p:cNvSpPr/>
          <p:nvPr/>
        </p:nvSpPr>
        <p:spPr>
          <a:xfrm>
            <a:off x="868680" y="3017520"/>
            <a:ext cx="41148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017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Billing team</a:t>
            </a:r>
            <a:endParaRPr lang="en-US" sz="1500" dirty="0"/>
          </a:p>
        </p:txBody>
      </p:sp>
      <p:sp>
        <p:nvSpPr>
          <p:cNvPr id="9" name="Reports team"/>
          <p:cNvSpPr/>
          <p:nvPr/>
        </p:nvSpPr>
        <p:spPr>
          <a:xfrm>
            <a:off x="868680" y="3703320"/>
            <a:ext cx="41148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Reports team</a:t>
            </a:r>
            <a:endParaRPr lang="en-US" sz="1500" dirty="0"/>
          </a:p>
        </p:txBody>
      </p:sp>
      <p:sp>
        <p:nvSpPr>
          <p:cNvPr id="11" name="Admin team"/>
          <p:cNvSpPr/>
          <p:nvPr/>
        </p:nvSpPr>
        <p:spPr>
          <a:xfrm>
            <a:off x="868680" y="4389120"/>
            <a:ext cx="41148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389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Admin team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166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one repo · one build · one deploy</a:t>
            </a:r>
            <a:endParaRPr lang="en-US" sz="1400" dirty="0"/>
          </a:p>
        </p:txBody>
      </p:sp>
      <p:sp>
        <p:nvSpPr>
          <p:cNvPr id="14" name="Release train circle"/>
          <p:cNvSpPr/>
          <p:nvPr/>
        </p:nvSpPr>
        <p:spPr>
          <a:xfrm>
            <a:off x="5852160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elease trai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2355" y="1744675"/>
            <a:ext cx="351130" cy="35113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812280" y="15361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Release train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812280" y="1965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change waits for everyone. One broken test blocks four teams.</a:t>
            </a:r>
            <a:endParaRPr lang="en-US" sz="1500" dirty="0"/>
          </a:p>
        </p:txBody>
      </p:sp>
      <p:sp>
        <p:nvSpPr>
          <p:cNvPr id="18" name="Hidden coupling circle"/>
          <p:cNvSpPr/>
          <p:nvPr/>
        </p:nvSpPr>
        <p:spPr>
          <a:xfrm>
            <a:off x="5852160" y="3017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Hidden coupl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55" y="3207715"/>
            <a:ext cx="351130" cy="35113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812280" y="2999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Hidden coupling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812280" y="3429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Shared state and components make "small" changes ripple everywhere.</a:t>
            </a:r>
            <a:endParaRPr lang="en-US" sz="1500" dirty="0"/>
          </a:p>
        </p:txBody>
      </p:sp>
      <p:sp>
        <p:nvSpPr>
          <p:cNvPr id="22" name="Framework lock-in circle"/>
          <p:cNvSpPr/>
          <p:nvPr/>
        </p:nvSpPr>
        <p:spPr>
          <a:xfrm>
            <a:off x="5852160" y="4480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Framework lock-i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355" y="4670755"/>
            <a:ext cx="351130" cy="35113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812280" y="4462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Framework lock-in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6812280" y="4892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Upgrading Angular or moving to React means a big-bang rewrite.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micro frontend is an independently deployable slice of the UI</a:t>
            </a:r>
            <a:endParaRPr lang="en-US" sz="3400" dirty="0"/>
          </a:p>
        </p:txBody>
      </p:sp>
      <p:sp>
        <p:nvSpPr>
          <p:cNvPr id="3" name="shell frame"/>
          <p:cNvSpPr/>
          <p:nvPr/>
        </p:nvSpPr>
        <p:spPr>
          <a:xfrm>
            <a:off x="548640" y="146304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Shell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header · navigation · auth · layout</a:t>
            </a:r>
            <a:endParaRPr lang="en-US" sz="1400" dirty="0"/>
          </a:p>
        </p:txBody>
      </p:sp>
      <p:sp>
        <p:nvSpPr>
          <p:cNvPr id="6" name="remote 0"/>
          <p:cNvSpPr/>
          <p:nvPr/>
        </p:nvSpPr>
        <p:spPr>
          <a:xfrm>
            <a:off x="822960" y="2560320"/>
            <a:ext cx="1920240" cy="2194560"/>
          </a:xfrm>
          <a:prstGeom prst="roundRect">
            <a:avLst>
              <a:gd name="adj" fmla="val 4762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Orders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(Angular)</a:t>
            </a:r>
            <a:endParaRPr lang="en-US" sz="1600" dirty="0"/>
          </a:p>
        </p:txBody>
      </p:sp>
      <p:sp>
        <p:nvSpPr>
          <p:cNvPr id="8" name="remote 1"/>
          <p:cNvSpPr/>
          <p:nvPr/>
        </p:nvSpPr>
        <p:spPr>
          <a:xfrm>
            <a:off x="2926080" y="2560320"/>
            <a:ext cx="1920240" cy="2194560"/>
          </a:xfrm>
          <a:prstGeom prst="roundRect">
            <a:avLst>
              <a:gd name="adj" fmla="val 4762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0" y="25603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Catalog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(React)</a:t>
            </a:r>
            <a:endParaRPr lang="en-US" sz="1600" dirty="0"/>
          </a:p>
        </p:txBody>
      </p:sp>
      <p:sp>
        <p:nvSpPr>
          <p:cNvPr id="10" name="remote 2"/>
          <p:cNvSpPr/>
          <p:nvPr/>
        </p:nvSpPr>
        <p:spPr>
          <a:xfrm>
            <a:off x="5029200" y="2560320"/>
            <a:ext cx="1920240" cy="2194560"/>
          </a:xfrm>
          <a:prstGeom prst="roundRect">
            <a:avLst>
              <a:gd name="adj" fmla="val 4762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25603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Profile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(Vue)</a:t>
            </a:r>
            <a:endParaRPr lang="en-US" sz="1600" dirty="0"/>
          </a:p>
        </p:txBody>
      </p:sp>
      <p:sp>
        <p:nvSpPr>
          <p:cNvPr id="12" name="contract line"/>
          <p:cNvSpPr/>
          <p:nvPr/>
        </p:nvSpPr>
        <p:spPr>
          <a:xfrm>
            <a:off x="822960" y="5166360"/>
            <a:ext cx="6217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303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contract: routes · events · shared context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Host / shell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Owns the frame and decides which micro app is on screen.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Micro apps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owns one business area end to end and ships on its own schedule.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480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Contract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892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How apps get onto the page and how they talk. This is the real API.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Five principles that make it work</a:t>
            </a:r>
            <a:endParaRPr lang="en-US" sz="3400" dirty="0"/>
          </a:p>
        </p:txBody>
      </p:sp>
      <p:sp>
        <p:nvSpPr>
          <p:cNvPr id="3" name="Team ownership card"/>
          <p:cNvSpPr/>
          <p:nvPr/>
        </p:nvSpPr>
        <p:spPr>
          <a:xfrm>
            <a:off x="548640" y="1645920"/>
            <a:ext cx="1999427" cy="40233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/>
        </p:spPr>
      </p:sp>
      <p:sp>
        <p:nvSpPr>
          <p:cNvPr id="4" name="Team ownership circle"/>
          <p:cNvSpPr/>
          <p:nvPr/>
        </p:nvSpPr>
        <p:spPr>
          <a:xfrm>
            <a:off x="1136874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eam ownershi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843" y="22256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10896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Team ownership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86200"/>
            <a:ext cx="163366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team owns a business area from UI to API</a:t>
            </a:r>
            <a:endParaRPr lang="en-US" sz="1500" dirty="0"/>
          </a:p>
        </p:txBody>
      </p:sp>
      <p:sp>
        <p:nvSpPr>
          <p:cNvPr id="8" name="Independent deploy card"/>
          <p:cNvSpPr/>
          <p:nvPr/>
        </p:nvSpPr>
        <p:spPr>
          <a:xfrm>
            <a:off x="2822387" y="1645920"/>
            <a:ext cx="1999427" cy="40233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/>
        </p:spPr>
      </p:sp>
      <p:sp>
        <p:nvSpPr>
          <p:cNvPr id="9" name="Independent deploy circle"/>
          <p:cNvSpPr/>
          <p:nvPr/>
        </p:nvSpPr>
        <p:spPr>
          <a:xfrm>
            <a:off x="3410621" y="20116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ndependent deplo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0" y="22256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05267" y="310896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Independent deploy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05267" y="3886200"/>
            <a:ext cx="163366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Ship without coordinating with other teams</a:t>
            </a:r>
            <a:endParaRPr lang="en-US" sz="1500" dirty="0"/>
          </a:p>
        </p:txBody>
      </p:sp>
      <p:sp>
        <p:nvSpPr>
          <p:cNvPr id="13" name="Tech agnostic card"/>
          <p:cNvSpPr/>
          <p:nvPr/>
        </p:nvSpPr>
        <p:spPr>
          <a:xfrm>
            <a:off x="5096134" y="1645920"/>
            <a:ext cx="1999427" cy="40233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/>
        </p:spPr>
      </p:sp>
      <p:sp>
        <p:nvSpPr>
          <p:cNvPr id="14" name="Tech agnostic circle"/>
          <p:cNvSpPr/>
          <p:nvPr/>
        </p:nvSpPr>
        <p:spPr>
          <a:xfrm>
            <a:off x="5684368" y="20116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Tech agnost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22256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9014" y="310896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 agnostic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79014" y="3886200"/>
            <a:ext cx="163366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app chooses its stack; the shell does not care</a:t>
            </a:r>
            <a:endParaRPr lang="en-US" sz="1500" dirty="0"/>
          </a:p>
        </p:txBody>
      </p:sp>
      <p:sp>
        <p:nvSpPr>
          <p:cNvPr id="18" name="Isolation card"/>
          <p:cNvSpPr/>
          <p:nvPr/>
        </p:nvSpPr>
        <p:spPr>
          <a:xfrm>
            <a:off x="7369881" y="1645920"/>
            <a:ext cx="1999427" cy="40233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/>
        </p:spPr>
      </p:sp>
      <p:sp>
        <p:nvSpPr>
          <p:cNvPr id="19" name="Isolation circle"/>
          <p:cNvSpPr/>
          <p:nvPr/>
        </p:nvSpPr>
        <p:spPr>
          <a:xfrm>
            <a:off x="7958115" y="201168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solat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084" y="222565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52761" y="310896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Isolation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52761" y="3886200"/>
            <a:ext cx="163366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crash or CSS leak stays inside one app</a:t>
            </a:r>
            <a:endParaRPr lang="en-US" sz="1500" dirty="0"/>
          </a:p>
        </p:txBody>
      </p:sp>
      <p:sp>
        <p:nvSpPr>
          <p:cNvPr id="23" name="Explicit contracts card"/>
          <p:cNvSpPr/>
          <p:nvPr/>
        </p:nvSpPr>
        <p:spPr>
          <a:xfrm>
            <a:off x="9643628" y="1645920"/>
            <a:ext cx="1999427" cy="402336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/>
        </p:spPr>
      </p:sp>
      <p:sp>
        <p:nvSpPr>
          <p:cNvPr id="24" name="Explicit contracts circle"/>
          <p:cNvSpPr/>
          <p:nvPr/>
        </p:nvSpPr>
        <p:spPr>
          <a:xfrm>
            <a:off x="10231862" y="20116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Explicit contract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31" y="2225650"/>
            <a:ext cx="395021" cy="3950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26508" y="310896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Explicit contracts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826508" y="3886200"/>
            <a:ext cx="163366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Talk through versioned messages, never shared internals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When do we need it?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Micro frontends solve a scaling problem in people and releases. Without that problem, they are pure overhead.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Use it for team scale, not for fashion</a:t>
            </a:r>
            <a:endParaRPr lang="en-US" sz="3400" dirty="0"/>
          </a:p>
        </p:txBody>
      </p:sp>
      <p:sp>
        <p:nvSpPr>
          <p:cNvPr id="3" name="Good reasons card"/>
          <p:cNvSpPr/>
          <p:nvPr/>
        </p:nvSpPr>
        <p:spPr>
          <a:xfrm>
            <a:off x="548640" y="1463040"/>
            <a:ext cx="5410048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Good reasons circle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Good reas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Good reasons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Several teams keep blocking each other's releases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Business areas are clearly separate and change at different speeds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Migrating a legacy app piece by piece (strangler pattern)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Embedding apps from other teams, vendors or acquisitions</a:t>
            </a:r>
            <a:endParaRPr lang="en-US" sz="1600" dirty="0"/>
          </a:p>
        </p:txBody>
      </p:sp>
      <p:sp>
        <p:nvSpPr>
          <p:cNvPr id="8" name="Bad reasons card"/>
          <p:cNvSpPr/>
          <p:nvPr/>
        </p:nvSpPr>
        <p:spPr>
          <a:xfrm>
            <a:off x="6233008" y="1463040"/>
            <a:ext cx="5410048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9" name="Bad reasons circle"/>
          <p:cNvSpPr/>
          <p:nvPr/>
        </p:nvSpPr>
        <p:spPr>
          <a:xfrm>
            <a:off x="6553048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Bad reas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68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91640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Bad reasons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53048" y="260604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"It's modern": a small team pays the cost and gets nothing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Mixing frameworks for fun: more bytes, upgrades and know-how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Domain boundaries are still unclear: you freeze the wrong seams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Hoping it fixes poor code quality inside one team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Nothing is free: what splitting costs</a:t>
            </a:r>
            <a:endParaRPr lang="en-US" sz="3400" dirty="0"/>
          </a:p>
        </p:txBody>
      </p:sp>
      <p:sp>
        <p:nvSpPr>
          <p:cNvPr id="3" name="Infrastructure card"/>
          <p:cNvSpPr/>
          <p:nvPr/>
        </p:nvSpPr>
        <p:spPr>
          <a:xfrm>
            <a:off x="548640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nfrastructure circle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nfrastructu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Infrastructure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Gateway, CDN routing, one pipeline per app</a:t>
            </a:r>
            <a:endParaRPr lang="en-US" sz="1600" dirty="0"/>
          </a:p>
        </p:txBody>
      </p:sp>
      <p:sp>
        <p:nvSpPr>
          <p:cNvPr id="8" name="Bundle weight card"/>
          <p:cNvSpPr/>
          <p:nvPr/>
        </p:nvSpPr>
        <p:spPr>
          <a:xfrm>
            <a:off x="4338218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Bundle weight circle"/>
          <p:cNvSpPr/>
          <p:nvPr/>
        </p:nvSpPr>
        <p:spPr>
          <a:xfrm>
            <a:off x="4658258" y="1783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Bundle weigh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66" y="19613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26938" y="178308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Bundle weight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58258" y="265176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Frameworks and libraries loaded more than once</a:t>
            </a:r>
            <a:endParaRPr lang="en-US" sz="1600" dirty="0"/>
          </a:p>
        </p:txBody>
      </p:sp>
      <p:sp>
        <p:nvSpPr>
          <p:cNvPr id="13" name="UX consistency card"/>
          <p:cNvSpPr/>
          <p:nvPr/>
        </p:nvSpPr>
        <p:spPr>
          <a:xfrm>
            <a:off x="8127797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UX consistency circle"/>
          <p:cNvSpPr/>
          <p:nvPr/>
        </p:nvSpPr>
        <p:spPr>
          <a:xfrm>
            <a:off x="8447837" y="1783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UX consistenc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145" y="19613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16517" y="178308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UX consistency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47837" y="265176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shared design system becomes mandatory</a:t>
            </a:r>
            <a:endParaRPr lang="en-US" sz="1600" dirty="0"/>
          </a:p>
        </p:txBody>
      </p:sp>
      <p:sp>
        <p:nvSpPr>
          <p:cNvPr id="18" name="Routing &amp; state card"/>
          <p:cNvSpPr/>
          <p:nvPr/>
        </p:nvSpPr>
        <p:spPr>
          <a:xfrm>
            <a:off x="548640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Routing &amp; state circle"/>
          <p:cNvSpPr/>
          <p:nvPr/>
        </p:nvSpPr>
        <p:spPr>
          <a:xfrm>
            <a:off x="868680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Routing &amp; stat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42931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411480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Routing &amp; state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9834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URL, history and shared state must be synced</a:t>
            </a:r>
            <a:endParaRPr lang="en-US" sz="1600" dirty="0"/>
          </a:p>
        </p:txBody>
      </p:sp>
      <p:sp>
        <p:nvSpPr>
          <p:cNvPr id="23" name="Auth card"/>
          <p:cNvSpPr/>
          <p:nvPr/>
        </p:nvSpPr>
        <p:spPr>
          <a:xfrm>
            <a:off x="4338218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4" name="Auth circle"/>
          <p:cNvSpPr/>
          <p:nvPr/>
        </p:nvSpPr>
        <p:spPr>
          <a:xfrm>
            <a:off x="4658258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Auth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566" y="42931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26938" y="411480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Auth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58258" y="49834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login, tokens shared safely across apps</a:t>
            </a:r>
            <a:endParaRPr lang="en-US" sz="1600" dirty="0"/>
          </a:p>
        </p:txBody>
      </p:sp>
      <p:sp>
        <p:nvSpPr>
          <p:cNvPr id="28" name="Testing card"/>
          <p:cNvSpPr/>
          <p:nvPr/>
        </p:nvSpPr>
        <p:spPr>
          <a:xfrm>
            <a:off x="8127797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Testing circle"/>
          <p:cNvSpPr/>
          <p:nvPr/>
        </p:nvSpPr>
        <p:spPr>
          <a:xfrm>
            <a:off x="8447837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Testing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6145" y="429310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16517" y="411480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Testing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447837" y="49834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E2E tests across independently deployed apps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How do we get there?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iframes · Module Federation · single-spa &amp; Web Components · AWS edge hosting · Bit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Composition can happen at build time, at the edge, or in the browser</a:t>
            </a:r>
            <a:endParaRPr lang="en-US" sz="3400" dirty="0"/>
          </a:p>
        </p:txBody>
      </p:sp>
      <p:sp>
        <p:nvSpPr>
          <p:cNvPr id="3" name="spectrum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◀ more shared, less independent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071055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more isolated, more independent ▶</a:t>
            </a:r>
            <a:endParaRPr lang="en-US" sz="1400" dirty="0"/>
          </a:p>
        </p:txBody>
      </p:sp>
      <p:sp>
        <p:nvSpPr>
          <p:cNvPr id="6" name="Bit / npm circle"/>
          <p:cNvSpPr/>
          <p:nvPr/>
        </p:nvSpPr>
        <p:spPr>
          <a:xfrm>
            <a:off x="1200882" y="17830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Bit / np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077" y="1973275"/>
            <a:ext cx="351130" cy="351130"/>
          </a:xfrm>
          <a:prstGeom prst="rect">
            <a:avLst/>
          </a:prstGeom>
        </p:spPr>
      </p:pic>
      <p:sp>
        <p:nvSpPr>
          <p:cNvPr id="8" name="Bit / npm card"/>
          <p:cNvSpPr/>
          <p:nvPr/>
        </p:nvSpPr>
        <p:spPr>
          <a:xfrm>
            <a:off x="548640" y="2743200"/>
            <a:ext cx="2036003" cy="32004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9260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Bit / npm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70332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Build time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3434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Versioned components built into one bundle</a:t>
            </a:r>
            <a:endParaRPr lang="en-US" sz="1400" dirty="0"/>
          </a:p>
        </p:txBody>
      </p:sp>
      <p:sp>
        <p:nvSpPr>
          <p:cNvPr id="12" name="AWS edge circle"/>
          <p:cNvSpPr/>
          <p:nvPr/>
        </p:nvSpPr>
        <p:spPr>
          <a:xfrm>
            <a:off x="3465485" y="17830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WS ed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680" y="1973275"/>
            <a:ext cx="351130" cy="351130"/>
          </a:xfrm>
          <a:prstGeom prst="rect">
            <a:avLst/>
          </a:prstGeom>
        </p:spPr>
      </p:pic>
      <p:sp>
        <p:nvSpPr>
          <p:cNvPr id="14" name="AWS edge card"/>
          <p:cNvSpPr/>
          <p:nvPr/>
        </p:nvSpPr>
        <p:spPr>
          <a:xfrm>
            <a:off x="2813243" y="2743200"/>
            <a:ext cx="2036003" cy="32004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950403" y="29260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AWS edge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950403" y="370332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Server / edge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996123" y="43434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CloudFront routes paths to separately deployed apps</a:t>
            </a:r>
            <a:endParaRPr lang="en-US" sz="1400" dirty="0"/>
          </a:p>
        </p:txBody>
      </p:sp>
      <p:sp>
        <p:nvSpPr>
          <p:cNvPr id="18" name="Module Federation circle"/>
          <p:cNvSpPr/>
          <p:nvPr/>
        </p:nvSpPr>
        <p:spPr>
          <a:xfrm>
            <a:off x="573008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Module Federa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1973275"/>
            <a:ext cx="351130" cy="351130"/>
          </a:xfrm>
          <a:prstGeom prst="rect">
            <a:avLst/>
          </a:prstGeom>
        </p:spPr>
      </p:pic>
      <p:sp>
        <p:nvSpPr>
          <p:cNvPr id="20" name="Module Federation card"/>
          <p:cNvSpPr/>
          <p:nvPr/>
        </p:nvSpPr>
        <p:spPr>
          <a:xfrm>
            <a:off x="5077846" y="2743200"/>
            <a:ext cx="2036003" cy="32004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215006" y="29260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Module Federation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215006" y="370332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Runtime, same document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260726" y="43434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Host loads remote JS modules and shares one framework</a:t>
            </a:r>
            <a:endParaRPr lang="en-US" sz="1400" dirty="0"/>
          </a:p>
        </p:txBody>
      </p:sp>
      <p:sp>
        <p:nvSpPr>
          <p:cNvPr id="24" name="single-spa / Web Components circle"/>
          <p:cNvSpPr/>
          <p:nvPr/>
        </p:nvSpPr>
        <p:spPr>
          <a:xfrm>
            <a:off x="7994691" y="17830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single-spa / Web Component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886" y="1973275"/>
            <a:ext cx="351130" cy="351130"/>
          </a:xfrm>
          <a:prstGeom prst="rect">
            <a:avLst/>
          </a:prstGeom>
        </p:spPr>
      </p:pic>
      <p:sp>
        <p:nvSpPr>
          <p:cNvPr id="26" name="single-spa / Web Components card"/>
          <p:cNvSpPr/>
          <p:nvPr/>
        </p:nvSpPr>
        <p:spPr>
          <a:xfrm>
            <a:off x="7342449" y="2743200"/>
            <a:ext cx="2036003" cy="32004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479609" y="29260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single-spa / Web Components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7479609" y="370332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Runtime, same document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525329" y="43434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Apps mount by route or as custom elements</a:t>
            </a:r>
            <a:endParaRPr lang="en-US" sz="1400" dirty="0"/>
          </a:p>
        </p:txBody>
      </p:sp>
      <p:sp>
        <p:nvSpPr>
          <p:cNvPr id="30" name="iframes circle"/>
          <p:cNvSpPr/>
          <p:nvPr/>
        </p:nvSpPr>
        <p:spPr>
          <a:xfrm>
            <a:off x="10259294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frame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9489" y="1973275"/>
            <a:ext cx="351130" cy="351130"/>
          </a:xfrm>
          <a:prstGeom prst="rect">
            <a:avLst/>
          </a:prstGeom>
        </p:spPr>
      </p:pic>
      <p:sp>
        <p:nvSpPr>
          <p:cNvPr id="32" name="iframes card"/>
          <p:cNvSpPr/>
          <p:nvPr/>
        </p:nvSpPr>
        <p:spPr>
          <a:xfrm>
            <a:off x="9607052" y="2743200"/>
            <a:ext cx="2036003" cy="32004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744212" y="29260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iframes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9744212" y="370332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Runtime, separate documents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789932" y="43434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app is a full page inside a frame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iframes: maximum isolation, minimum magic</a:t>
            </a:r>
            <a:endParaRPr lang="en-US" sz="3400" dirty="0"/>
          </a:p>
        </p:txBody>
      </p:sp>
      <p:sp>
        <p:nvSpPr>
          <p:cNvPr id="3" name="how card"/>
          <p:cNvSpPr/>
          <p:nvPr/>
        </p:nvSpPr>
        <p:spPr>
          <a:xfrm>
            <a:off x="548640" y="1463040"/>
            <a:ext cx="3931920" cy="457200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The shell renders &lt;iframe src="/orders/"&gt;. Each app is a full, separate document.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Communication only via window.postMessage.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This is what our example repo uses.</a:t>
            </a:r>
            <a:endParaRPr lang="en-US" sz="1500" dirty="0"/>
          </a:p>
        </p:txBody>
      </p:sp>
      <p:sp>
        <p:nvSpPr>
          <p:cNvPr id="6" name="Pros card"/>
          <p:cNvSpPr/>
          <p:nvPr/>
        </p:nvSpPr>
        <p:spPr>
          <a:xfrm>
            <a:off x="475488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Pros circle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Pro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846" y="17885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1500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isolation of JS, CSS, globals and crashes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framework or version, even legacy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Zero build coupling; fastest to start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Natural fit for third-party or vendor apps</a:t>
            </a:r>
            <a:endParaRPr lang="en-US" sz="1400" dirty="0"/>
          </a:p>
        </p:txBody>
      </p:sp>
      <p:sp>
        <p:nvSpPr>
          <p:cNvPr id="11" name="Cons card"/>
          <p:cNvSpPr/>
          <p:nvPr/>
        </p:nvSpPr>
        <p:spPr>
          <a:xfrm>
            <a:off x="827532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Cons circle"/>
          <p:cNvSpPr/>
          <p:nvPr/>
        </p:nvSpPr>
        <p:spPr>
          <a:xfrm>
            <a:off x="854964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286" y="17885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354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54964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frame boots its own framework: slower, heavier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Routes, history, sizing and focus need manual sync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Modals cannot escape the frame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SEO / SSR; harder accessibility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Federation: one SPA feel, shared dependencies</a:t>
            </a:r>
            <a:endParaRPr lang="en-US" sz="3400" dirty="0"/>
          </a:p>
        </p:txBody>
      </p:sp>
      <p:sp>
        <p:nvSpPr>
          <p:cNvPr id="3" name="how card"/>
          <p:cNvSpPr/>
          <p:nvPr/>
        </p:nvSpPr>
        <p:spPr>
          <a:xfrm>
            <a:off x="548640" y="1463040"/>
            <a:ext cx="3931920" cy="457200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Each remote build exposes modules via a remoteEntry.js.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The host loads them at runtime and shares singletons like Angular or React.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E6F5"/>
                </a:solidFill>
              </a:rPr>
              <a:t>Native Federation does the same with esbuild and import maps.</a:t>
            </a:r>
            <a:endParaRPr lang="en-US" sz="1500" dirty="0"/>
          </a:p>
        </p:txBody>
      </p:sp>
      <p:sp>
        <p:nvSpPr>
          <p:cNvPr id="6" name="Pros card"/>
          <p:cNvSpPr/>
          <p:nvPr/>
        </p:nvSpPr>
        <p:spPr>
          <a:xfrm>
            <a:off x="475488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Pros circle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Pro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846" y="17885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1500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Best runtime performance: one framework instance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Feels like a single app: routing, state, focus just work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Remotes still deploy independently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First-class Nx and Angular support</a:t>
            </a:r>
            <a:endParaRPr lang="en-US" sz="1400" dirty="0"/>
          </a:p>
        </p:txBody>
      </p:sp>
      <p:sp>
        <p:nvSpPr>
          <p:cNvPr id="11" name="Cons card"/>
          <p:cNvSpPr/>
          <p:nvPr/>
        </p:nvSpPr>
        <p:spPr>
          <a:xfrm>
            <a:off x="827532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Cons circle"/>
          <p:cNvSpPr/>
          <p:nvPr/>
        </p:nvSpPr>
        <p:spPr>
          <a:xfrm>
            <a:off x="854964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286" y="17885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354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54964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document: CSS and global leaks are possible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Shared-version negotiation can fail at runtime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Practically ties teams to one framework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tooling coupling (webpack / esbuild)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AWS: hosting and routing, not a framework</a:t>
            </a:r>
            <a:endParaRPr lang="en-US" sz="3400" dirty="0"/>
          </a:p>
        </p:txBody>
      </p:sp>
      <p:sp>
        <p:nvSpPr>
          <p:cNvPr id="3" name="how card"/>
          <p:cNvSpPr/>
          <p:nvPr/>
        </p:nvSpPr>
        <p:spPr>
          <a:xfrm>
            <a:off x="548640" y="1463040"/>
            <a:ext cx="3931920" cy="457200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Each team deploys to its own S3 bucket (or Amplify app).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CloudFront maps paths to them: /orders/* → bucket A, /catalog/* → bucket B.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E6F5"/>
                </a:solidFill>
              </a:rPr>
              <a:t>Lambda@Edge or CloudFront Functions rewrite or compose.</a:t>
            </a:r>
            <a:endParaRPr lang="en-US" sz="1500" dirty="0"/>
          </a:p>
        </p:txBody>
      </p:sp>
      <p:sp>
        <p:nvSpPr>
          <p:cNvPr id="6" name="Pros card"/>
          <p:cNvSpPr/>
          <p:nvPr/>
        </p:nvSpPr>
        <p:spPr>
          <a:xfrm>
            <a:off x="475488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Pros circle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Pro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846" y="17885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1500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Truly independent deploys and rollbacks per team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CDN performance and caching out of the box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 do edge or server composition for SEO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Plays the role of our Gateway + Traefik</a:t>
            </a:r>
            <a:endParaRPr lang="en-US" sz="1400" dirty="0"/>
          </a:p>
        </p:txBody>
      </p:sp>
      <p:sp>
        <p:nvSpPr>
          <p:cNvPr id="11" name="Cons card"/>
          <p:cNvSpPr/>
          <p:nvPr/>
        </p:nvSpPr>
        <p:spPr>
          <a:xfrm>
            <a:off x="827532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Cons circle"/>
          <p:cNvSpPr/>
          <p:nvPr/>
        </p:nvSpPr>
        <p:spPr>
          <a:xfrm>
            <a:off x="854964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286" y="17885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354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54964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single "micro frontend service" to buy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still need a client-side approach on top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Edge logic is harder to test and debug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 lock-in and per-team IaC to maintain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Bit: share components, not deployments</a:t>
            </a:r>
            <a:endParaRPr lang="en-US" sz="3400" dirty="0"/>
          </a:p>
        </p:txBody>
      </p:sp>
      <p:sp>
        <p:nvSpPr>
          <p:cNvPr id="3" name="how card"/>
          <p:cNvSpPr/>
          <p:nvPr/>
        </p:nvSpPr>
        <p:spPr>
          <a:xfrm>
            <a:off x="548640" y="1463040"/>
            <a:ext cx="3931920" cy="457200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Components live as independently versioned packages on bit.cloud.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3E6F5"/>
                </a:solidFill>
              </a:rPr>
              <a:t>Apps install them and compose at build time.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E6F5"/>
                </a:solidFill>
              </a:rPr>
              <a:t>Great partner for a shared design system.</a:t>
            </a:r>
            <a:endParaRPr lang="en-US" sz="1500" dirty="0"/>
          </a:p>
        </p:txBody>
      </p:sp>
      <p:sp>
        <p:nvSpPr>
          <p:cNvPr id="6" name="Pros card"/>
          <p:cNvSpPr/>
          <p:nvPr/>
        </p:nvSpPr>
        <p:spPr>
          <a:xfrm>
            <a:off x="475488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Pros circle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Pro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846" y="17885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1500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Independent development and versioning of components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 for design systems and reuse across apps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optimised bundle; no runtime glue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Dependency graph and change propagation tooling</a:t>
            </a:r>
            <a:endParaRPr lang="en-US" sz="1400" dirty="0"/>
          </a:p>
        </p:txBody>
      </p:sp>
      <p:sp>
        <p:nvSpPr>
          <p:cNvPr id="11" name="Cons card"/>
          <p:cNvSpPr/>
          <p:nvPr/>
        </p:nvSpPr>
        <p:spPr>
          <a:xfrm>
            <a:off x="8275320" y="1463040"/>
            <a:ext cx="3291840" cy="4572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Cons circle"/>
          <p:cNvSpPr/>
          <p:nvPr/>
        </p:nvSpPr>
        <p:spPr>
          <a:xfrm>
            <a:off x="854964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286" y="17885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354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549640" y="242316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independent deployment: apps must rebuild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Another platform and workflow to adopt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Version sprawl if not governed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a composition approach on its own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Side by side</a:t>
            </a:r>
            <a:endParaRPr lang="en-US" sz="3400" dirty="0"/>
          </a:p>
        </p:txBody>
      </p:sp>
      <p:graphicFrame>
        <p:nvGraphicFramePr>
          <p:cNvPr id="1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463040"/>
                <a:gridCol w="1600200"/>
                <a:gridCol w="1325880"/>
                <a:gridCol w="1645920"/>
                <a:gridCol w="1036015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Isolation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Performance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Mixed frameworks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SEO / SSR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Independent deploy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Complexity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iframes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○○○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Module Federation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single-spa / Web Comp.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AWS edge composition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Bit / npm packages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○○○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○○○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● = better for that criterion. Ratings are typical, not absolute: configuration and discipline move them a 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quick decision guide</a:t>
            </a:r>
            <a:endParaRPr lang="en-US" sz="3400" dirty="0"/>
          </a:p>
        </p:txBody>
      </p:sp>
      <p:sp>
        <p:nvSpPr>
          <p:cNvPr id="3" name="question 0"/>
          <p:cNvSpPr/>
          <p:nvPr/>
        </p:nvSpPr>
        <p:spPr>
          <a:xfrm>
            <a:off x="548640" y="1463040"/>
            <a:ext cx="6949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Embedding apps you do not control, or need hard isolation?</a:t>
            </a:r>
            <a:endParaRPr lang="en-US" sz="1700" dirty="0"/>
          </a:p>
        </p:txBody>
      </p:sp>
      <p:sp>
        <p:nvSpPr>
          <p:cNvPr id="5" name="arrow 0"/>
          <p:cNvSpPr/>
          <p:nvPr/>
        </p:nvSpPr>
        <p:spPr>
          <a:xfrm>
            <a:off x="7680960" y="1664208"/>
            <a:ext cx="45720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6" name="answer 0"/>
          <p:cNvSpPr/>
          <p:nvPr/>
        </p:nvSpPr>
        <p:spPr>
          <a:xfrm>
            <a:off x="8321040" y="1463040"/>
            <a:ext cx="3322015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0" y="1463040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iframes</a:t>
            </a:r>
            <a:endParaRPr lang="en-US" sz="1700" dirty="0"/>
          </a:p>
        </p:txBody>
      </p:sp>
      <p:sp>
        <p:nvSpPr>
          <p:cNvPr id="8" name="question 1"/>
          <p:cNvSpPr/>
          <p:nvPr/>
        </p:nvSpPr>
        <p:spPr>
          <a:xfrm>
            <a:off x="548640" y="2377440"/>
            <a:ext cx="6949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774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Same framework, many teams, want a single-SPA feel?</a:t>
            </a:r>
            <a:endParaRPr lang="en-US" sz="1700" dirty="0"/>
          </a:p>
        </p:txBody>
      </p:sp>
      <p:sp>
        <p:nvSpPr>
          <p:cNvPr id="10" name="arrow 1"/>
          <p:cNvSpPr/>
          <p:nvPr/>
        </p:nvSpPr>
        <p:spPr>
          <a:xfrm>
            <a:off x="7680960" y="2578608"/>
            <a:ext cx="45720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1" name="answer 1"/>
          <p:cNvSpPr/>
          <p:nvPr/>
        </p:nvSpPr>
        <p:spPr>
          <a:xfrm>
            <a:off x="8321040" y="2377440"/>
            <a:ext cx="3322015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3920" y="2377440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Module / Native Federation</a:t>
            </a:r>
            <a:endParaRPr lang="en-US" sz="1700" dirty="0"/>
          </a:p>
        </p:txBody>
      </p:sp>
      <p:sp>
        <p:nvSpPr>
          <p:cNvPr id="13" name="question 2"/>
          <p:cNvSpPr/>
          <p:nvPr/>
        </p:nvSpPr>
        <p:spPr>
          <a:xfrm>
            <a:off x="548640" y="3291840"/>
            <a:ext cx="6949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918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Different frameworks in one document?</a:t>
            </a:r>
            <a:endParaRPr lang="en-US" sz="1700" dirty="0"/>
          </a:p>
        </p:txBody>
      </p:sp>
      <p:sp>
        <p:nvSpPr>
          <p:cNvPr id="15" name="arrow 2"/>
          <p:cNvSpPr/>
          <p:nvPr/>
        </p:nvSpPr>
        <p:spPr>
          <a:xfrm>
            <a:off x="7680960" y="3493008"/>
            <a:ext cx="45720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6" name="answer 2"/>
          <p:cNvSpPr/>
          <p:nvPr/>
        </p:nvSpPr>
        <p:spPr>
          <a:xfrm>
            <a:off x="8321040" y="3291840"/>
            <a:ext cx="3322015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3291840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single-spa or Web Components</a:t>
            </a:r>
            <a:endParaRPr lang="en-US" sz="1700" dirty="0"/>
          </a:p>
        </p:txBody>
      </p:sp>
      <p:sp>
        <p:nvSpPr>
          <p:cNvPr id="18" name="question 3"/>
          <p:cNvSpPr/>
          <p:nvPr/>
        </p:nvSpPr>
        <p:spPr>
          <a:xfrm>
            <a:off x="548640" y="4206240"/>
            <a:ext cx="6949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2062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SEO and first paint are top priority?</a:t>
            </a:r>
            <a:endParaRPr lang="en-US" sz="1700" dirty="0"/>
          </a:p>
        </p:txBody>
      </p:sp>
      <p:sp>
        <p:nvSpPr>
          <p:cNvPr id="20" name="arrow 3"/>
          <p:cNvSpPr/>
          <p:nvPr/>
        </p:nvSpPr>
        <p:spPr>
          <a:xfrm>
            <a:off x="7680960" y="4407408"/>
            <a:ext cx="45720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1" name="answer 3"/>
          <p:cNvSpPr/>
          <p:nvPr/>
        </p:nvSpPr>
        <p:spPr>
          <a:xfrm>
            <a:off x="8321040" y="4206240"/>
            <a:ext cx="3322015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0" y="4206240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Server or edge composition</a:t>
            </a:r>
            <a:endParaRPr lang="en-US" sz="1700" dirty="0"/>
          </a:p>
        </p:txBody>
      </p:sp>
      <p:sp>
        <p:nvSpPr>
          <p:cNvPr id="23" name="question 4"/>
          <p:cNvSpPr/>
          <p:nvPr/>
        </p:nvSpPr>
        <p:spPr>
          <a:xfrm>
            <a:off x="548640" y="5120640"/>
            <a:ext cx="6949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1206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Only want to share UI and can deploy together?</a:t>
            </a:r>
            <a:endParaRPr lang="en-US" sz="1700" dirty="0"/>
          </a:p>
        </p:txBody>
      </p:sp>
      <p:sp>
        <p:nvSpPr>
          <p:cNvPr id="25" name="arrow 4"/>
          <p:cNvSpPr/>
          <p:nvPr/>
        </p:nvSpPr>
        <p:spPr>
          <a:xfrm>
            <a:off x="7680960" y="5321808"/>
            <a:ext cx="45720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6" name="answer 4"/>
          <p:cNvSpPr/>
          <p:nvPr/>
        </p:nvSpPr>
        <p:spPr>
          <a:xfrm>
            <a:off x="8321040" y="5120640"/>
            <a:ext cx="3322015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03920" y="5120640"/>
            <a:ext cx="2956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Bit / npm (not micro frontends)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Our example: micro-frontend-shell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An Angular shell hosting Angular, React and Vue apps in iframes, behind a Gateway and Traefik, kept in sync by @mfe/bridge.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origin, four independently built apps</a:t>
            </a:r>
            <a:endParaRPr lang="en-US" sz="3400" dirty="0"/>
          </a:p>
        </p:txBody>
      </p:sp>
      <p:sp>
        <p:nvSpPr>
          <p:cNvPr id="3" name="browser"/>
          <p:cNvSpPr/>
          <p:nvPr/>
        </p:nvSpPr>
        <p:spPr>
          <a:xfrm>
            <a:off x="548640" y="265176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651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:8082/shell/…</a:t>
            </a:r>
            <a:endParaRPr lang="en-US" sz="1500" dirty="0"/>
          </a:p>
        </p:txBody>
      </p:sp>
      <p:sp>
        <p:nvSpPr>
          <p:cNvPr id="5" name="a1"/>
          <p:cNvSpPr/>
          <p:nvPr/>
        </p:nvSpPr>
        <p:spPr>
          <a:xfrm>
            <a:off x="2057400" y="3154680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traefik"/>
          <p:cNvSpPr/>
          <p:nvPr/>
        </p:nvSpPr>
        <p:spPr>
          <a:xfrm>
            <a:off x="2514600" y="2651760"/>
            <a:ext cx="155448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14600" y="26517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Traefik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edge router</a:t>
            </a:r>
            <a:endParaRPr lang="en-US" sz="1500" dirty="0"/>
          </a:p>
        </p:txBody>
      </p:sp>
      <p:sp>
        <p:nvSpPr>
          <p:cNvPr id="8" name="a2"/>
          <p:cNvSpPr/>
          <p:nvPr/>
        </p:nvSpPr>
        <p:spPr>
          <a:xfrm>
            <a:off x="4114800" y="3154680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gateway"/>
          <p:cNvSpPr/>
          <p:nvPr/>
        </p:nvSpPr>
        <p:spPr>
          <a:xfrm>
            <a:off x="4572000" y="2651760"/>
            <a:ext cx="201168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651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Gateway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Express · per-app mode</a:t>
            </a:r>
            <a:endParaRPr lang="en-US" sz="1500" dirty="0"/>
          </a:p>
        </p:txBody>
      </p:sp>
      <p:sp>
        <p:nvSpPr>
          <p:cNvPr id="11" name="fan 0"/>
          <p:cNvSpPr/>
          <p:nvPr/>
        </p:nvSpPr>
        <p:spPr>
          <a:xfrm flipV="1">
            <a:off x="6629400" y="3154680"/>
            <a:ext cx="731520" cy="-1280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app 0"/>
          <p:cNvSpPr/>
          <p:nvPr/>
        </p:nvSpPr>
        <p:spPr>
          <a:xfrm>
            <a:off x="7406640" y="1463040"/>
            <a:ext cx="19202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/shell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dev :5000 or dist/</a:t>
            </a:r>
            <a:endParaRPr lang="en-US" sz="1500" dirty="0"/>
          </a:p>
        </p:txBody>
      </p:sp>
      <p:sp>
        <p:nvSpPr>
          <p:cNvPr id="14" name="fan 1"/>
          <p:cNvSpPr/>
          <p:nvPr/>
        </p:nvSpPr>
        <p:spPr>
          <a:xfrm flipV="1">
            <a:off x="6629400" y="3154680"/>
            <a:ext cx="731520" cy="-25603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app 1"/>
          <p:cNvSpPr/>
          <p:nvPr/>
        </p:nvSpPr>
        <p:spPr>
          <a:xfrm>
            <a:off x="7406640" y="2487168"/>
            <a:ext cx="19202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24871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/angular-app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dev :5001 or dist/</a:t>
            </a:r>
            <a:endParaRPr lang="en-US" sz="1500" dirty="0"/>
          </a:p>
        </p:txBody>
      </p:sp>
      <p:sp>
        <p:nvSpPr>
          <p:cNvPr id="17" name="fan 2"/>
          <p:cNvSpPr/>
          <p:nvPr/>
        </p:nvSpPr>
        <p:spPr>
          <a:xfrm>
            <a:off x="6629400" y="3154680"/>
            <a:ext cx="731520" cy="76809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app 2"/>
          <p:cNvSpPr/>
          <p:nvPr/>
        </p:nvSpPr>
        <p:spPr>
          <a:xfrm>
            <a:off x="7406640" y="3511296"/>
            <a:ext cx="192024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06640" y="351129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/react-app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dev :5002 or dist/</a:t>
            </a:r>
            <a:endParaRPr lang="en-US" sz="1500" dirty="0"/>
          </a:p>
        </p:txBody>
      </p:sp>
      <p:sp>
        <p:nvSpPr>
          <p:cNvPr id="20" name="fan 3"/>
          <p:cNvSpPr/>
          <p:nvPr/>
        </p:nvSpPr>
        <p:spPr>
          <a:xfrm>
            <a:off x="6629400" y="3154680"/>
            <a:ext cx="731520" cy="17922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app 3"/>
          <p:cNvSpPr/>
          <p:nvPr/>
        </p:nvSpPr>
        <p:spPr>
          <a:xfrm>
            <a:off x="7406640" y="4535424"/>
            <a:ext cx="192024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06640" y="45354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/vue-app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dev :5003 or dist/</a:t>
            </a:r>
            <a:endParaRPr lang="en-US" sz="1500" dirty="0"/>
          </a:p>
        </p:txBody>
      </p:sp>
      <p:sp>
        <p:nvSpPr>
          <p:cNvPr id="23" name="mode card"/>
          <p:cNvSpPr/>
          <p:nvPr/>
        </p:nvSpPr>
        <p:spPr>
          <a:xfrm>
            <a:off x="9555480" y="1463040"/>
            <a:ext cx="2087575" cy="3931920"/>
          </a:xfrm>
          <a:prstGeom prst="roundRect">
            <a:avLst>
              <a:gd name="adj" fmla="val 525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38360" y="1645920"/>
            <a:ext cx="18132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app-mode-config.json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serve → proxy to dev server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static → serve the build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Mix them: run only your app in serve mode.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Same origin for every app → no CORS, shared cookies, and postMessage locked to window.location.origin.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@mfe/bridge: a small, typed postMessage contract</a:t>
            </a:r>
            <a:endParaRPr lang="en-US" sz="3400" dirty="0"/>
          </a:p>
        </p:txBody>
      </p:sp>
      <p:graphicFrame>
        <p:nvGraphicFramePr>
          <p:cNvPr id="19" name="messa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Direction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remote → shell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Booted; shell replies with context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remote → shell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route-changed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Mirror the path in the address bar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remote → shell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Domain event; shell logs and relays it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shell → remote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navigate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 button, deep link, shell link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shell → remote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context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Theme, user, locale owned by the shell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shell → remote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Relay of another app's event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ecurity card"/>
          <p:cNvSpPr/>
          <p:nvPr/>
        </p:nvSpPr>
        <p:spPr>
          <a:xfrm>
            <a:off x="7772400" y="1463040"/>
            <a:ext cx="3870655" cy="4526280"/>
          </a:xfrm>
          <a:prstGeom prst="roundRect">
            <a:avLst>
              <a:gd name="adj" fmla="val 2835"/>
            </a:avLst>
          </a:prstGeom>
          <a:solidFill>
            <a:schemeClr val="tx1"/>
          </a:solidFill>
          <a:ln/>
        </p:spPr>
      </p:sp>
      <p:sp>
        <p:nvSpPr>
          <p:cNvPr id="5" name="security circle"/>
          <p:cNvSpPr/>
          <p:nvPr/>
        </p:nvSpPr>
        <p:spPr>
          <a:xfrm>
            <a:off x="80467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ecurit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1" y="185806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8696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Built-in safety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046720" y="2560320"/>
            <a:ext cx="33220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3E6F5"/>
                </a:solidFill>
              </a:rPr>
              <a:t>targetOrigin is our own origin, never "*"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3E6F5"/>
                </a:solidFill>
              </a:rPr>
              <a:t>Drop messages unless origin, source window and envelope all match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3E6F5"/>
                </a:solidFill>
              </a:rPr>
              <a:t>Standalone-safe: no parent frame means no-op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3E6F5"/>
                </a:solidFill>
              </a:rPr>
              <a:t>Envelope carries a version for future changes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Route sync without loops or double history entries</a:t>
            </a:r>
            <a:endParaRPr lang="en-US" sz="3400" dirty="0"/>
          </a:p>
        </p:txBody>
      </p:sp>
      <p:sp>
        <p:nvSpPr>
          <p:cNvPr id="3" name="Shell head"/>
          <p:cNvSpPr/>
          <p:nvPr/>
        </p:nvSpPr>
        <p:spPr>
          <a:xfrm>
            <a:off x="2743200" y="1417320"/>
            <a:ext cx="23774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Shell</a:t>
            </a:r>
            <a:endParaRPr lang="en-US" sz="1600" dirty="0"/>
          </a:p>
        </p:txBody>
      </p:sp>
      <p:sp>
        <p:nvSpPr>
          <p:cNvPr id="5" name="Shell lane"/>
          <p:cNvSpPr/>
          <p:nvPr/>
        </p:nvSpPr>
        <p:spPr>
          <a:xfrm>
            <a:off x="3931920" y="1965960"/>
            <a:ext cx="0" cy="3657600"/>
          </a:xfrm>
          <a:prstGeom prst="line">
            <a:avLst/>
          </a:prstGeom>
          <a:noFill/>
          <a:ln w="19050">
            <a:solidFill>
              <a:srgbClr val="B8BCD0"/>
            </a:solidFill>
            <a:prstDash val="dash"/>
          </a:ln>
        </p:spPr>
      </p:sp>
      <p:sp>
        <p:nvSpPr>
          <p:cNvPr id="6" name="Remote (iframe) head"/>
          <p:cNvSpPr/>
          <p:nvPr/>
        </p:nvSpPr>
        <p:spPr>
          <a:xfrm>
            <a:off x="7040880" y="1417320"/>
            <a:ext cx="237744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Remote (iframe)</a:t>
            </a:r>
            <a:endParaRPr lang="en-US" sz="1600" dirty="0"/>
          </a:p>
        </p:txBody>
      </p:sp>
      <p:sp>
        <p:nvSpPr>
          <p:cNvPr id="8" name="Remote (iframe) lane"/>
          <p:cNvSpPr/>
          <p:nvPr/>
        </p:nvSpPr>
        <p:spPr>
          <a:xfrm>
            <a:off x="8229600" y="1965960"/>
            <a:ext cx="0" cy="3657600"/>
          </a:xfrm>
          <a:prstGeom prst="line">
            <a:avLst/>
          </a:prstGeom>
          <a:noFill/>
          <a:ln w="19050">
            <a:solidFill>
              <a:srgbClr val="B8BCD0"/>
            </a:solidFill>
            <a:prstDash val="dash"/>
          </a:ln>
        </p:spPr>
      </p:sp>
      <p:sp>
        <p:nvSpPr>
          <p:cNvPr id="9" name="dot 1"/>
          <p:cNvSpPr/>
          <p:nvPr/>
        </p:nvSpPr>
        <p:spPr>
          <a:xfrm>
            <a:off x="8138160" y="228600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58200" y="2103120"/>
            <a:ext cx="3184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User clicks "About": vue-router pushes /about</a:t>
            </a:r>
            <a:endParaRPr lang="en-US" sz="1300" dirty="0"/>
          </a:p>
        </p:txBody>
      </p:sp>
      <p:sp>
        <p:nvSpPr>
          <p:cNvPr id="11" name="msg 2"/>
          <p:cNvSpPr/>
          <p:nvPr/>
        </p:nvSpPr>
        <p:spPr>
          <a:xfrm>
            <a:off x="3931920" y="3017520"/>
            <a:ext cx="42976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114800" y="2633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route-changed "/about"</a:t>
            </a:r>
            <a:endParaRPr lang="en-US" sz="1300" dirty="0"/>
          </a:p>
        </p:txBody>
      </p:sp>
      <p:sp>
        <p:nvSpPr>
          <p:cNvPr id="13" name="dot 3"/>
          <p:cNvSpPr/>
          <p:nvPr/>
        </p:nvSpPr>
        <p:spPr>
          <a:xfrm>
            <a:off x="3840480" y="342900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navigate("/vue-app/about", { replaceUrl: true })</a:t>
            </a:r>
            <a:endParaRPr lang="en-US" sz="1300" dirty="0"/>
          </a:p>
        </p:txBody>
      </p:sp>
      <p:sp>
        <p:nvSpPr>
          <p:cNvPr id="15" name="dot 4"/>
          <p:cNvSpPr/>
          <p:nvPr/>
        </p:nvSpPr>
        <p:spPr>
          <a:xfrm>
            <a:off x="3840480" y="411480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User presses Back on a shell entry</a:t>
            </a:r>
            <a:endParaRPr lang="en-US" sz="1300" dirty="0"/>
          </a:p>
        </p:txBody>
      </p:sp>
      <p:sp>
        <p:nvSpPr>
          <p:cNvPr id="17" name="msg 5"/>
          <p:cNvSpPr/>
          <p:nvPr/>
        </p:nvSpPr>
        <p:spPr>
          <a:xfrm>
            <a:off x="3931920" y="4800600"/>
            <a:ext cx="4297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114800" y="4416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 "/"</a:t>
            </a:r>
            <a:endParaRPr lang="en-US" sz="1300" dirty="0"/>
          </a:p>
        </p:txBody>
      </p:sp>
      <p:sp>
        <p:nvSpPr>
          <p:cNvPr id="19" name="dot 6"/>
          <p:cNvSpPr/>
          <p:nvPr/>
        </p:nvSpPr>
        <p:spPr>
          <a:xfrm>
            <a:off x="8138160" y="5029200"/>
            <a:ext cx="182880" cy="182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58200" y="4846320"/>
            <a:ext cx="3184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router.replace("/")</a:t>
            </a:r>
            <a:endParaRPr lang="en-US" sz="1300" dirty="0"/>
          </a:p>
        </p:txBody>
      </p:sp>
      <p:sp>
        <p:nvSpPr>
          <p:cNvPr id="21" name="msg 7"/>
          <p:cNvSpPr/>
          <p:nvPr/>
        </p:nvSpPr>
        <p:spPr>
          <a:xfrm>
            <a:off x="3931920" y="5532120"/>
            <a:ext cx="42976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114800" y="5148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route-changed "/" → same path, ignored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Three rules: set the iframe src once · mirror with replaceUrl (the iframe already pushed history) · ignore paths you already know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Iframe pitfalls we found or designed around</a:t>
            </a:r>
            <a:endParaRPr lang="en-US" sz="3400" dirty="0"/>
          </a:p>
        </p:txBody>
      </p:sp>
      <p:sp>
        <p:nvSpPr>
          <p:cNvPr id="3" name="Iframe reloads card"/>
          <p:cNvSpPr/>
          <p:nvPr/>
        </p:nvSpPr>
        <p:spPr>
          <a:xfrm>
            <a:off x="548640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frame reloads circle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frame reload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Iframe reloads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template getter built a new SafeResourceUrl on every change detection</a:t>
            </a:r>
            <a:endParaRPr lang="en-US" sz="1500" dirty="0"/>
          </a:p>
        </p:txBody>
      </p:sp>
      <p:sp>
        <p:nvSpPr>
          <p:cNvPr id="8" name="Double history card"/>
          <p:cNvSpPr/>
          <p:nvPr/>
        </p:nvSpPr>
        <p:spPr>
          <a:xfrm>
            <a:off x="4338218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Double history circle"/>
          <p:cNvSpPr/>
          <p:nvPr/>
        </p:nvSpPr>
        <p:spPr>
          <a:xfrm>
            <a:off x="4658258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Double histor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66" y="19613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26938" y="178308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Double history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58258" y="26060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Shell and iframe both pushed entries, so Back needed two presses</a:t>
            </a:r>
            <a:endParaRPr lang="en-US" sz="1500" dirty="0"/>
          </a:p>
        </p:txBody>
      </p:sp>
      <p:sp>
        <p:nvSpPr>
          <p:cNvPr id="13" name="Silent signal card"/>
          <p:cNvSpPr/>
          <p:nvPr/>
        </p:nvSpPr>
        <p:spPr>
          <a:xfrm>
            <a:off x="8127797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Silent signal circle"/>
          <p:cNvSpPr/>
          <p:nvPr/>
        </p:nvSpPr>
        <p:spPr>
          <a:xfrm>
            <a:off x="8447837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ilent signa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145" y="19613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16517" y="178308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Silent signal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47837" y="26060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bridge?.setContext(ctx()) never read the signal while bridge was undefined</a:t>
            </a:r>
            <a:endParaRPr lang="en-US" sz="1500" dirty="0"/>
          </a:p>
        </p:txBody>
      </p:sp>
      <p:sp>
        <p:nvSpPr>
          <p:cNvPr id="18" name="Deep links 404 card"/>
          <p:cNvSpPr/>
          <p:nvPr/>
        </p:nvSpPr>
        <p:spPr>
          <a:xfrm>
            <a:off x="548640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Deep links 404 circle"/>
          <p:cNvSpPr/>
          <p:nvPr/>
        </p:nvSpPr>
        <p:spPr>
          <a:xfrm>
            <a:off x="868680" y="4114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Deep links 40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42931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411480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Deep links 404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93776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Shell routes matched only /vue-app, not /vue-app/about</a:t>
            </a:r>
            <a:endParaRPr lang="en-US" sz="1500" dirty="0"/>
          </a:p>
        </p:txBody>
      </p:sp>
      <p:sp>
        <p:nvSpPr>
          <p:cNvPr id="23" name="Empty container card"/>
          <p:cNvSpPr/>
          <p:nvPr/>
        </p:nvSpPr>
        <p:spPr>
          <a:xfrm>
            <a:off x="4338218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4" name="Empty container circle"/>
          <p:cNvSpPr/>
          <p:nvPr/>
        </p:nvSpPr>
        <p:spPr>
          <a:xfrm>
            <a:off x="4658258" y="4114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Empty containe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566" y="42931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26938" y="411480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Empty container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58258" y="493776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Static builds were never copied into the gateway image</a:t>
            </a:r>
            <a:endParaRPr lang="en-US" sz="1500" dirty="0"/>
          </a:p>
        </p:txBody>
      </p:sp>
      <p:sp>
        <p:nvSpPr>
          <p:cNvPr id="28" name="Open postMessage card"/>
          <p:cNvSpPr/>
          <p:nvPr/>
        </p:nvSpPr>
        <p:spPr>
          <a:xfrm>
            <a:off x="8127797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Open postMessage circle"/>
          <p:cNvSpPr/>
          <p:nvPr/>
        </p:nvSpPr>
        <p:spPr>
          <a:xfrm>
            <a:off x="8447837" y="4114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Open postMessag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6145" y="429310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16517" y="411480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Open postMessage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447837" y="493776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Using "*" and no source check lets any window talk to you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 in five steps</a:t>
            </a:r>
            <a:endParaRPr lang="en-US" sz="3400" dirty="0"/>
          </a:p>
        </p:txBody>
      </p:sp>
      <p:sp>
        <p:nvSpPr>
          <p:cNvPr id="3" name="step 0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cmd 0"/>
          <p:cNvSpPr/>
          <p:nvPr/>
        </p:nvSpPr>
        <p:spPr>
          <a:xfrm>
            <a:off x="1417320" y="146304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463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apps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14630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Start the four dev servers (or build them for static mode)</a:t>
            </a:r>
            <a:endParaRPr lang="en-US" sz="1600" dirty="0"/>
          </a:p>
        </p:txBody>
      </p:sp>
      <p:sp>
        <p:nvSpPr>
          <p:cNvPr id="8" name="step 1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cmd 1"/>
          <p:cNvSpPr/>
          <p:nvPr/>
        </p:nvSpPr>
        <p:spPr>
          <a:xfrm>
            <a:off x="1417320" y="237744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45920" y="2377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3774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Traefik on :8082, gateway in front of every app</a:t>
            </a:r>
            <a:endParaRPr lang="en-US" sz="1600" dirty="0"/>
          </a:p>
        </p:txBody>
      </p:sp>
      <p:sp>
        <p:nvSpPr>
          <p:cNvPr id="13" name="step 2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cmd 2"/>
          <p:cNvSpPr/>
          <p:nvPr/>
        </p:nvSpPr>
        <p:spPr>
          <a:xfrm>
            <a:off x="1417320" y="329184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45920" y="3291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/shell/react-app/products/mouse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2918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Deep link lands inside the React app</a:t>
            </a:r>
            <a:endParaRPr lang="en-US" sz="1600" dirty="0"/>
          </a:p>
        </p:txBody>
      </p:sp>
      <p:sp>
        <p:nvSpPr>
          <p:cNvPr id="18" name="step 3"/>
          <p:cNvSpPr/>
          <p:nvPr/>
        </p:nvSpPr>
        <p:spPr>
          <a:xfrm>
            <a:off x="54864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cmd 3"/>
          <p:cNvSpPr/>
          <p:nvPr/>
        </p:nvSpPr>
        <p:spPr>
          <a:xfrm>
            <a:off x="1417320" y="420624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45920" y="4206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around, then press Back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2062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Address bar follows; one Back per step</a:t>
            </a:r>
            <a:endParaRPr lang="en-US" sz="1600" dirty="0"/>
          </a:p>
        </p:txBody>
      </p:sp>
      <p:sp>
        <p:nvSpPr>
          <p:cNvPr id="23" name="step 4"/>
          <p:cNvSpPr/>
          <p:nvPr/>
        </p:nvSpPr>
        <p:spPr>
          <a:xfrm>
            <a:off x="548640" y="5166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cmd 4"/>
          <p:cNvSpPr/>
          <p:nvPr/>
        </p:nvSpPr>
        <p:spPr>
          <a:xfrm>
            <a:off x="1417320" y="512064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45920" y="5120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 theme, click "Emit event"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51206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 flows down, events flow up into the shell 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Takeaways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Split by team and domain, not by technology.</a:t>
            </a:r>
            <a:endParaRPr lang="en-US" sz="2000" dirty="0"/>
          </a:p>
        </p:txBody>
      </p:sp>
      <p:sp>
        <p:nvSpPr>
          <p:cNvPr id="4" name="takeaway 0"/>
          <p:cNvSpPr/>
          <p:nvPr/>
        </p:nvSpPr>
        <p:spPr>
          <a:xfrm>
            <a:off x="8229600" y="1188720"/>
            <a:ext cx="3413455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58200" y="1188720"/>
            <a:ext cx="2956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Start with a modular monolith; split when release coupling hurts</a:t>
            </a:r>
            <a:endParaRPr lang="en-US" sz="1500" dirty="0"/>
          </a:p>
        </p:txBody>
      </p:sp>
      <p:sp>
        <p:nvSpPr>
          <p:cNvPr id="6" name="takeaway 1"/>
          <p:cNvSpPr/>
          <p:nvPr/>
        </p:nvSpPr>
        <p:spPr>
          <a:xfrm>
            <a:off x="8229600" y="2377440"/>
            <a:ext cx="3413455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2377440"/>
            <a:ext cx="2956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contract between apps is the real architecture</a:t>
            </a:r>
            <a:endParaRPr lang="en-US" sz="1500" dirty="0"/>
          </a:p>
        </p:txBody>
      </p:sp>
      <p:sp>
        <p:nvSpPr>
          <p:cNvPr id="8" name="takeaway 2"/>
          <p:cNvSpPr/>
          <p:nvPr/>
        </p:nvSpPr>
        <p:spPr>
          <a:xfrm>
            <a:off x="8229600" y="3566160"/>
            <a:ext cx="3413455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58200" y="3566160"/>
            <a:ext cx="2956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Federation for same-framework teams; iframes for legacy and vendors</a:t>
            </a:r>
            <a:endParaRPr lang="en-US" sz="1500" dirty="0"/>
          </a:p>
        </p:txBody>
      </p:sp>
      <p:sp>
        <p:nvSpPr>
          <p:cNvPr id="10" name="takeaway 3"/>
          <p:cNvSpPr/>
          <p:nvPr/>
        </p:nvSpPr>
        <p:spPr>
          <a:xfrm>
            <a:off x="8229600" y="4754880"/>
            <a:ext cx="3413455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4754880"/>
            <a:ext cx="2956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Next for this repo: auth, resize, fallbacks, design system, E2E tests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cro Frontends">
  <a:themeElements>
    <a:clrScheme name="Micro Frontends">
      <a:dk1>
        <a:srgbClr val="1B1F3B"/>
      </a:dk1>
      <a:lt1>
        <a:srgbClr val="FFFFFF"/>
      </a:lt1>
      <a:dk2>
        <a:srgbClr val="4A5070"/>
      </a:dk2>
      <a:lt2>
        <a:srgbClr val="F1F2F7"/>
      </a:lt2>
      <a:accent1>
        <a:srgbClr val="FF5A5F"/>
      </a:accent1>
      <a:accent2>
        <a:srgbClr val="DD0031"/>
      </a:accent2>
      <a:accent3>
        <a:srgbClr val="087EA4"/>
      </a:accent3>
      <a:accent4>
        <a:srgbClr val="2E9E6A"/>
      </a:accent4>
      <a:accent5>
        <a:srgbClr val="E8912D"/>
      </a:accent5>
      <a:accent6>
        <a:srgbClr val="6C63FF"/>
      </a:accent6>
      <a:hlink>
        <a:srgbClr val="087EA4"/>
      </a:hlink>
      <a:folHlink>
        <a:srgbClr val="6C63FF"/>
      </a:folHlink>
    </a:clrScheme>
    <a:fontScheme name="Micro Frontend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Frontends</dc:title>
  <dc:subject>PptxGenJS Presentation</dc:subject>
  <dc:creator>Reza Shakeri</dc:creator>
  <cp:lastModifiedBy>Reza Shakeri</cp:lastModifiedBy>
  <cp:revision>1</cp:revision>
  <dcterms:created xsi:type="dcterms:W3CDTF">2026-10-14T08:43:58Z</dcterms:created>
  <dcterms:modified xsi:type="dcterms:W3CDTF">2026-10-14T08:43:58Z</dcterms:modified>
</cp:coreProperties>
</file>